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0D47A1"/>
                </a:solidFill>
              </a:defRPr>
            </a:pPr>
            <a:r>
              <a:t>BOB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616161"/>
                </a:solidFill>
              </a:defRPr>
            </a:pPr>
            <a:r>
              <a:t>Build Orchestration 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83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16161"/>
                </a:solidFill>
              </a:defRPr>
            </a:pPr>
            <a:r>
              <a:t>A Production-Ready Framework for Autonomous AI-Assisted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9800"/>
                </a:solidFill>
              </a:defRPr>
            </a:pPr>
            <a:r>
              <a:t>"Can We Build It? Yes We Can!"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47A1"/>
                </a:solidFill>
              </a:defRPr>
            </a:pPr>
            <a:r>
              <a:t>Yaakoub Elkhamra, PhD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16161"/>
                </a:solidFill>
              </a:defRPr>
            </a:pPr>
            <a:r>
              <a:t>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The Origin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How BOB Came To Be</a:t>
            </a:r>
          </a:p>
        </p:txBody>
      </p:sp>
      <p:pic>
        <p:nvPicPr>
          <p:cNvPr id="5" name="Picture 4" descr="recursive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486400" cy="27201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47A1"/>
                </a:solidFill>
              </a:defRPr>
            </a:pPr>
            <a:r>
              <a:t>THE 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Build a recursive workflow: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  RESEARCH -&gt; PLAN -&gt; EXECUTE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  (loop until done)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800"/>
                </a:solidFill>
              </a:defRPr>
            </a:pPr>
            <a: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Tokens were an issue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Complex workflows = massive context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API costs added up quickly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</a:defRPr>
            </a:pPr>
            <a:r>
              <a:t>THE BREAKTHROUGH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292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Claude Code Max subscription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Started with Claude Code Harness Demo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Built with Claude Code SDK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Why The Harness Design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Key Design Patterns That Enable Autonomous 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47A1"/>
                </a:solidFill>
              </a:defRPr>
            </a:pPr>
            <a:r>
              <a:t>1. ORCHESTRATION OVER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Single agent = limited scope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Orchestrator = coordinates multiple agents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Each agent specialized for its task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Clean separation of concerns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800"/>
                </a:solidFill>
              </a:defRPr>
            </a:pPr>
            <a:r>
              <a:t>2. ESCALATION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Start cheap, escalate when needed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Sonnet handles 70%+ of tasks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Opus for complex reasoning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Diagnosis for persistent failures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CAF50"/>
                </a:solidFill>
              </a:defRPr>
            </a:pPr>
            <a:r>
              <a:t>3. RESEARCH-FIRST PRINCIPLE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4592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Fail-fast is expensive with LLMs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Research before implementation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Domain knowledge persists across sessions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Prevents repeated failures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96F3"/>
                </a:solidFill>
              </a:defRPr>
            </a:pPr>
            <a:r>
              <a:t>4. DAG-BASED TASK SCHEDULING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47472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Dependencies define execution order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Independent tasks run in parallel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Topological sort ensures correctness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Maximizes throughput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029200"/>
            <a:ext cx="11277295" cy="1371600"/>
          </a:xfrm>
          <a:prstGeom prst="roundRect">
            <a:avLst/>
          </a:prstGeom>
          <a:solidFill>
            <a:srgbClr val="F5F5F5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47A1"/>
                </a:solidFill>
              </a:defRPr>
            </a:pPr>
            <a:r>
              <a:t>KEY INSIGHT: The harness design decouples task specification from execution strategy.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16161"/>
                </a:solidFill>
              </a:defRPr>
            </a:pPr>
            <a:r>
              <a:t>This allows the system to adapt its approach based on task complexity and failure patterns, without changing the task definition itself.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Layered Design for Modularity and Extensibility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772400" cy="49765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47A1"/>
                </a:solidFill>
              </a:defRPr>
            </a:pPr>
            <a:r>
              <a:t>DESIGN HIGHLIGHTS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8288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CLI provides unified interface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Three core managers: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  - Projects (isolation)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  - Specs (flexibility)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  - Agents (specialization)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Orchestration engine: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  - DAG task scheduling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  - Escalation control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  - Research coordination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SQLite for persistence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JSON logs for observability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Intelligent Escalation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Automatic Failure Recovery</a:t>
            </a:r>
          </a:p>
        </p:txBody>
      </p:sp>
      <p:pic>
        <p:nvPicPr>
          <p:cNvPr id="5" name="Picture 4" descr="escalation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400800" cy="48032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47A1"/>
                </a:solidFill>
              </a:defRPr>
            </a:pPr>
            <a: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73736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1. Start with Sonnet (fast, cheap)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   - 3 attempts before escalating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   - Handles 70%+ of tasks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2. Escalate to Opus if needed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   - More capable reasoning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   - 3 more attempts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3. Diagnosis on persistent failure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   - Analyzes root cause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   - Takes targeted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</a:defRPr>
            </a:pPr>
            <a:r>
              <a:t>COST BENEFIT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75488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Sonnet: $3/$15 per 1M tokens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Opus: $15/$75 per 1M tokens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5x savings on most tasks!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Research-First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Proactive Knowledge Acquisition</a:t>
            </a:r>
          </a:p>
        </p:txBody>
      </p:sp>
      <p:pic>
        <p:nvPicPr>
          <p:cNvPr id="5" name="Picture 4" descr="research_fi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430000" cy="48515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47A1"/>
                </a:solidFill>
              </a:defRPr>
            </a:pPr>
            <a:r>
              <a:t>The Pattern: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94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16161"/>
                </a:solidFill>
              </a:defRPr>
            </a:pPr>
            <a:r>
              <a:t>Mark tasks with research_required: true and provide research_queries. BOB researches BEFORE coding, storing findings for the implementation phase. This eliminates expensive trial-and-error cycles.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Parallel Task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DAG-Aware Concurrent Processing</a:t>
            </a:r>
          </a:p>
        </p:txBody>
      </p:sp>
      <p:pic>
        <p:nvPicPr>
          <p:cNvPr id="5" name="Picture 4" descr="parallel_exec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430000" cy="56738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Independent tasks execute concurrently  |  Dependency resolution via topological sort  |  Each task gets isolated session  |  Failures don't block independent work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Key Features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Production-Ready Capabilities</a:t>
            </a:r>
          </a:p>
        </p:txBody>
      </p:sp>
      <p:pic>
        <p:nvPicPr>
          <p:cNvPr id="5" name="Picture 4" descr="feature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64093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Real-Time Cost Visibility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Budget Controls and Tracking</a:t>
            </a:r>
          </a:p>
        </p:txBody>
      </p:sp>
      <p:pic>
        <p:nvPicPr>
          <p:cNvPr id="5" name="Picture 4" descr="cost_tr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25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47A1"/>
                </a:solidFill>
              </a:defRPr>
            </a:pPr>
            <a:r>
              <a:t>COST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Per-project cost tracking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Per-session breakdown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Per-model analysis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Per-agent attribution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BUDGET CONTROLS: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- max_cost_per_project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- max_cost_per_session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- warn_at_percent threshold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All costs visible via: bob costs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Developer-Friendly CLI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Comprehensive Command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47A1"/>
                </a:solidFill>
              </a:defRPr>
            </a:pPr>
            <a: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project create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project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project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project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47A1"/>
                </a:solidFill>
              </a:defRPr>
            </a:pPr>
            <a:r>
              <a:t>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task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task show &lt;id&gt;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task retry &lt;id&gt;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task list --needs-research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47A1"/>
                </a:solidFill>
              </a:defRPr>
            </a:pPr>
            <a:r>
              <a:t>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run --parallel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run --dry-run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run --resume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47A1"/>
                </a:solidFill>
              </a:defRPr>
            </a:pPr>
            <a:r>
              <a:t>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logs --follow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costs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logs --json | jq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029200"/>
            <a:ext cx="11277295" cy="1188720"/>
          </a:xfrm>
          <a:prstGeom prst="roundRect">
            <a:avLst/>
          </a:prstGeom>
          <a:solidFill>
            <a:srgbClr val="F5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47A1"/>
                </a:solidFill>
              </a:defRPr>
            </a:pPr>
            <a:r>
              <a:t>All commands support --json for scripting integration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16161"/>
                </a:solidFill>
              </a:defRPr>
            </a:pPr>
            <a:r>
              <a:t>bob task list --json | jq '.[] | select(.status=="failed")'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Flexible Specification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Multiple Formats, One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2651760" cy="41148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2468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YAML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2651760" cy="3200400"/>
          </a:xfrm>
          <a:prstGeom prst="rect">
            <a:avLst/>
          </a:prstGeom>
          <a:solidFill>
            <a:srgbClr val="F5F5F5"/>
          </a:solidFill>
          <a:ln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246887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212121"/>
                </a:solidFill>
              </a:defRPr>
            </a:pPr>
            <a:r>
              <a:t>name: My App</a:t>
            </a:r>
            <a:br/>
            <a:br/>
            <a:r>
              <a:t>tasks:</a:t>
            </a:r>
            <a:br/>
            <a:r>
              <a:t>  - id: auth</a:t>
            </a:r>
            <a:br/>
            <a:r>
              <a:t>    title: User Auth</a:t>
            </a:r>
            <a:br/>
            <a:r>
              <a:t>    priority: critical</a:t>
            </a:r>
            <a:br/>
            <a:r>
              <a:t>    depends_on:</a:t>
            </a:r>
            <a:br/>
            <a:r>
              <a:t>      - database</a:t>
            </a:r>
            <a:br/>
            <a:r>
              <a:t>    acceptance_criteria:</a:t>
            </a:r>
            <a:br/>
            <a:r>
              <a:t>      - Login works</a:t>
            </a:r>
            <a:br/>
            <a:r>
              <a:t>      - Logout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280160"/>
            <a:ext cx="265176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325880"/>
            <a:ext cx="2468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691640"/>
            <a:ext cx="2651760" cy="3200400"/>
          </a:xfrm>
          <a:prstGeom prst="rect">
            <a:avLst/>
          </a:prstGeom>
          <a:solidFill>
            <a:srgbClr val="F5F5F5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783080"/>
            <a:ext cx="246887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212121"/>
                </a:solidFill>
              </a:defRPr>
            </a:pPr>
            <a:r>
              <a:t>{</a:t>
            </a:r>
            <a:br/>
            <a:r>
              <a:t>  "name": "My App",</a:t>
            </a:r>
            <a:br/>
            <a:r>
              <a:t>  "tasks": [{</a:t>
            </a:r>
            <a:br/>
            <a:r>
              <a:t>    "id": "auth",</a:t>
            </a:r>
            <a:br/>
            <a:r>
              <a:t>    "title": "User Auth",</a:t>
            </a:r>
            <a:br/>
            <a:r>
              <a:t>    "priority": "critical",</a:t>
            </a:r>
            <a:br/>
            <a:r>
              <a:t>    "depends_on": [</a:t>
            </a:r>
            <a:br/>
            <a:r>
              <a:t>      "database"</a:t>
            </a:r>
            <a:br/>
            <a:r>
              <a:t>    ]</a:t>
            </a:r>
            <a:br/>
            <a:r>
              <a:t>  }]</a:t>
            </a:r>
            <a:br/>
            <a:r>
              <a:t>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280160"/>
            <a:ext cx="265176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325880"/>
            <a:ext cx="2468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Markdown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691640"/>
            <a:ext cx="2651760" cy="3200400"/>
          </a:xfrm>
          <a:prstGeom prst="rect">
            <a:avLst/>
          </a:prstGeom>
          <a:solidFill>
            <a:srgbClr val="F5F5F5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83080"/>
            <a:ext cx="246887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212121"/>
                </a:solidFill>
              </a:defRPr>
            </a:pPr>
            <a:r>
              <a:t># My App Spec</a:t>
            </a:r>
            <a:br/>
            <a:br/>
            <a:r>
              <a:t>## auth: User Auth</a:t>
            </a:r>
            <a:br/>
            <a:r>
              <a:t>[priority:critical]</a:t>
            </a:r>
            <a:br/>
            <a:r>
              <a:t>[depends:database]</a:t>
            </a:r>
            <a:br/>
            <a:br/>
            <a:r>
              <a:t>Implement user</a:t>
            </a:r>
            <a:br/>
            <a:r>
              <a:t>authentication.</a:t>
            </a:r>
            <a:br/>
            <a:br/>
            <a:r>
              <a:t>### Criteria</a:t>
            </a:r>
            <a:br/>
            <a:r>
              <a:t>- Login works</a:t>
            </a:r>
            <a:br/>
            <a:r>
              <a:t>- Logout works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280160"/>
            <a:ext cx="2651760" cy="41148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325880"/>
            <a:ext cx="2468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GitHub Issues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691640"/>
            <a:ext cx="2651760" cy="3200400"/>
          </a:xfrm>
          <a:prstGeom prst="rect">
            <a:avLst/>
          </a:prstGeom>
          <a:solidFill>
            <a:srgbClr val="F5F5F5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783080"/>
            <a:ext cx="246887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212121"/>
                </a:solidFill>
              </a:defRPr>
            </a:pPr>
            <a:r>
              <a:t>Issue #42</a:t>
            </a:r>
            <a:br/>
            <a:r>
              <a:t>Title: User Auth</a:t>
            </a:r>
            <a:br/>
            <a:br/>
            <a:r>
              <a:t>Labels:</a:t>
            </a:r>
            <a:br/>
            <a:r>
              <a:t>  - ai-implement</a:t>
            </a:r>
            <a:br/>
            <a:r>
              <a:t>  - priority-critical</a:t>
            </a:r>
            <a:br/>
            <a:br/>
            <a:r>
              <a:t>Acceptance:</a:t>
            </a:r>
            <a:br/>
            <a:r>
              <a:t>- [ ] Login works</a:t>
            </a:r>
            <a:br/>
            <a:r>
              <a:t>- [ ] Logout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47A1"/>
                </a:solidFill>
              </a:defRPr>
            </a:pPr>
            <a:r>
              <a:t>$ bob project create app ./workspace github://org/repo?label=ai-implement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5778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16161"/>
                </a:solidFill>
              </a:defRPr>
            </a:pPr>
            <a:r>
              <a:t>Sync GitHub issues directly as tasks - labels become priorities and metadata!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Quick Start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Get Running in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2743200" cy="365760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1. INSTALL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git clone https://github.com/yye00/bob.git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cd bob &amp;&amp; ./init.sh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17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export ANTHROPIC_API_KEY='...'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371600"/>
            <a:ext cx="2743200" cy="36576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5544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2. CREATE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194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bob init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06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bob project create my-app ./workspace file://spec.yaml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371600"/>
            <a:ext cx="2743200" cy="36576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544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3. DEFINE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194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# spec.yaml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606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tasks: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17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  - id: setup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29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    priority: critical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371600"/>
            <a:ext cx="2743200" cy="365760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5544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4. 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194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bob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606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bob status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017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bob logs --follow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6692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47A1"/>
                </a:solidFill>
              </a:defRPr>
            </a:pPr>
            <a:r>
              <a:t>https://github.com/yye00/bob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Production-Ready Autonomous 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47A1"/>
                </a:solidFill>
              </a:defRPr>
            </a:pPr>
            <a:r>
              <a:t>CORE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Multi-project management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Intelligent escalation (Sonnet -&gt; Opus -&gt; Diagnosis)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Research-first workflow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Parallel DAG-based execution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Real-time cost tracking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Structured JSON logging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Checkpoint and resume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CAF50"/>
                </a:solidFill>
              </a:defRPr>
            </a:pPr>
            <a:r>
              <a:t>PRODUCTION 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1,200+ tests passing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SQLite persistence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Comprehensive CLI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GitHub Issues integration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Built with Claude Code SDK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4846320"/>
            <a:ext cx="8534095" cy="13716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502920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D47A1"/>
                </a:solidFill>
              </a:defRPr>
            </a:pPr>
            <a:r>
              <a:t>"Can We Build It? YES WE CAN!"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669280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D47A1"/>
                </a:solidFill>
              </a:defRPr>
            </a:pPr>
            <a:r>
              <a:t>Yaakoub Elkhamra, PhD  |  https://github.com/yye00/bob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